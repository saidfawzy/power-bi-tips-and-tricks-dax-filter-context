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33"/>
  </p:notesMasterIdLst>
  <p:sldIdLst>
    <p:sldId id="445" r:id="rId2"/>
    <p:sldId id="448" r:id="rId3"/>
    <p:sldId id="521" r:id="rId4"/>
    <p:sldId id="661" r:id="rId5"/>
    <p:sldId id="662" r:id="rId6"/>
    <p:sldId id="663" r:id="rId7"/>
    <p:sldId id="664" r:id="rId8"/>
    <p:sldId id="693" r:id="rId9"/>
    <p:sldId id="665" r:id="rId10"/>
    <p:sldId id="666" r:id="rId11"/>
    <p:sldId id="667" r:id="rId12"/>
    <p:sldId id="694" r:id="rId13"/>
    <p:sldId id="658" r:id="rId14"/>
    <p:sldId id="668" r:id="rId15"/>
    <p:sldId id="669" r:id="rId16"/>
    <p:sldId id="670" r:id="rId17"/>
    <p:sldId id="671" r:id="rId18"/>
    <p:sldId id="672" r:id="rId19"/>
    <p:sldId id="673" r:id="rId20"/>
    <p:sldId id="674" r:id="rId21"/>
    <p:sldId id="687" r:id="rId22"/>
    <p:sldId id="703" r:id="rId23"/>
    <p:sldId id="691" r:id="rId24"/>
    <p:sldId id="692" r:id="rId25"/>
    <p:sldId id="704" r:id="rId26"/>
    <p:sldId id="705" r:id="rId27"/>
    <p:sldId id="695" r:id="rId28"/>
    <p:sldId id="706" r:id="rId29"/>
    <p:sldId id="700" r:id="rId30"/>
    <p:sldId id="701" r:id="rId31"/>
    <p:sldId id="450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8B5D"/>
    <a:srgbClr val="F8BBD0"/>
    <a:srgbClr val="793E3B"/>
    <a:srgbClr val="AC5854"/>
    <a:srgbClr val="D0A09E"/>
    <a:srgbClr val="EBD7D5"/>
    <a:srgbClr val="CFA09D"/>
    <a:srgbClr val="D6D6C5"/>
    <a:srgbClr val="CEE7FB"/>
    <a:srgbClr val="C8E6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47" autoAdjust="0"/>
    <p:restoredTop sz="92996" autoAdjust="0"/>
  </p:normalViewPr>
  <p:slideViewPr>
    <p:cSldViewPr snapToGrid="0">
      <p:cViewPr varScale="1">
        <p:scale>
          <a:sx n="104" d="100"/>
          <a:sy n="104" d="100"/>
        </p:scale>
        <p:origin x="12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5EA4C-C730-45EE-962B-B75D339BE598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EEA2C-B15A-41FB-8CEE-35D5B1FD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1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73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62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9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31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76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86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32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8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82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4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62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1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771BB59-0E1E-D541-5605-2DC3FE9AB056}"/>
              </a:ext>
            </a:extLst>
          </p:cNvPr>
          <p:cNvCxnSpPr/>
          <p:nvPr/>
        </p:nvCxnSpPr>
        <p:spPr>
          <a:xfrm>
            <a:off x="5855855" y="582224"/>
            <a:ext cx="0" cy="5421679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7905B7F-EBFB-D4C0-B65A-F4F00D803557}"/>
              </a:ext>
            </a:extLst>
          </p:cNvPr>
          <p:cNvSpPr/>
          <p:nvPr/>
        </p:nvSpPr>
        <p:spPr>
          <a:xfrm>
            <a:off x="-1" y="0"/>
            <a:ext cx="12242801" cy="10698163"/>
          </a:xfrm>
          <a:prstGeom prst="rect">
            <a:avLst/>
          </a:prstGeom>
          <a:solidFill>
            <a:srgbClr val="CEE7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2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AC19497-F638-0811-E7ED-6E6FA4360F2F}"/>
              </a:ext>
            </a:extLst>
          </p:cNvPr>
          <p:cNvGrpSpPr/>
          <p:nvPr/>
        </p:nvGrpSpPr>
        <p:grpSpPr>
          <a:xfrm>
            <a:off x="5662312" y="4823990"/>
            <a:ext cx="6426978" cy="2240924"/>
            <a:chOff x="439870" y="3676804"/>
            <a:chExt cx="4018099" cy="2130254"/>
          </a:xfrm>
        </p:grpSpPr>
        <p:pic>
          <p:nvPicPr>
            <p:cNvPr id="15" name="Picture 14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C10EB561-9745-F8D5-A329-610E598C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8285" y="4958680"/>
              <a:ext cx="1389684" cy="60207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CBE5B9B-0BC4-F177-AC6B-7A636CCB5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66117" y="3921827"/>
              <a:ext cx="942730" cy="820103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EDC7302-7843-CF24-7863-332AA1532973}"/>
                </a:ext>
              </a:extLst>
            </p:cNvPr>
            <p:cNvGrpSpPr/>
            <p:nvPr/>
          </p:nvGrpSpPr>
          <p:grpSpPr>
            <a:xfrm>
              <a:off x="439870" y="3676804"/>
              <a:ext cx="2764064" cy="2130254"/>
              <a:chOff x="607840" y="3312044"/>
              <a:chExt cx="2801395" cy="2130254"/>
            </a:xfrm>
          </p:grpSpPr>
          <p:pic>
            <p:nvPicPr>
              <p:cNvPr id="18" name="Picture 17" descr="Logo, icon&#10;&#10;Description automatically generated">
                <a:extLst>
                  <a:ext uri="{FF2B5EF4-FFF2-40B4-BE49-F238E27FC236}">
                    <a16:creationId xmlns:a16="http://schemas.microsoft.com/office/drawing/2014/main" id="{90275740-71E6-75BF-A2E5-127284CBEA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32120" y="4860287"/>
                <a:ext cx="303443" cy="365694"/>
              </a:xfrm>
              <a:prstGeom prst="rect">
                <a:avLst/>
              </a:prstGeom>
            </p:spPr>
          </p:pic>
          <p:sp>
            <p:nvSpPr>
              <p:cNvPr id="19" name="Subtitle 2">
                <a:extLst>
                  <a:ext uri="{FF2B5EF4-FFF2-40B4-BE49-F238E27FC236}">
                    <a16:creationId xmlns:a16="http://schemas.microsoft.com/office/drawing/2014/main" id="{0C03C6AB-7317-F115-99AE-03CD78B786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7840" y="3312044"/>
                <a:ext cx="2801395" cy="21302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 sz="28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sz="2400" dirty="0">
                    <a:solidFill>
                      <a:schemeClr val="tx1"/>
                    </a:solidFill>
                    <a:latin typeface="Lato" panose="020F0502020204030203" pitchFamily="34" charset="0"/>
                  </a:rPr>
                  <a:t>Prepared By :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Arial Black" panose="020B0A04020102020204" pitchFamily="34" charset="0"/>
                  </a:rPr>
                  <a:t>Said Fawzy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  <a:latin typeface="Lato" panose="020F0502020204030203" pitchFamily="34" charset="0"/>
                  </a:rPr>
                  <a:t>Manager of Information Center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  <a:latin typeface="Lato" panose="020F0502020204030203" pitchFamily="34" charset="0"/>
                  </a:rPr>
                  <a:t>Tendering Department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Lato" panose="020F0502020204030203" pitchFamily="34" charset="0"/>
                  </a:rPr>
                  <a:t>Arab Contractors </a:t>
                </a:r>
              </a:p>
            </p:txBody>
          </p:sp>
        </p:grpSp>
      </p:grpSp>
      <p:pic>
        <p:nvPicPr>
          <p:cNvPr id="1026" name="Picture 2" descr="Data Analytics Manager | Career &amp; Salary Information">
            <a:extLst>
              <a:ext uri="{FF2B5EF4-FFF2-40B4-BE49-F238E27FC236}">
                <a16:creationId xmlns:a16="http://schemas.microsoft.com/office/drawing/2014/main" id="{38C0BB70-E039-F440-FDF9-DC0132CBB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957" y="6542"/>
            <a:ext cx="9701844" cy="453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07FB83E-1A4F-7B84-39F6-B8C7347448A4}"/>
              </a:ext>
            </a:extLst>
          </p:cNvPr>
          <p:cNvSpPr/>
          <p:nvPr/>
        </p:nvSpPr>
        <p:spPr>
          <a:xfrm rot="2085906">
            <a:off x="-799676" y="1174445"/>
            <a:ext cx="4367008" cy="2334473"/>
          </a:xfrm>
          <a:custGeom>
            <a:avLst/>
            <a:gdLst>
              <a:gd name="connsiteX0" fmla="*/ 171545 w 4367008"/>
              <a:gd name="connsiteY0" fmla="*/ 66450 h 2334473"/>
              <a:gd name="connsiteX1" fmla="*/ 389087 w 4367008"/>
              <a:gd name="connsiteY1" fmla="*/ 0 h 2334473"/>
              <a:gd name="connsiteX2" fmla="*/ 3977921 w 4367008"/>
              <a:gd name="connsiteY2" fmla="*/ 0 h 2334473"/>
              <a:gd name="connsiteX3" fmla="*/ 4367008 w 4367008"/>
              <a:gd name="connsiteY3" fmla="*/ 389087 h 2334473"/>
              <a:gd name="connsiteX4" fmla="*/ 4367008 w 4367008"/>
              <a:gd name="connsiteY4" fmla="*/ 1945386 h 2334473"/>
              <a:gd name="connsiteX5" fmla="*/ 3977921 w 4367008"/>
              <a:gd name="connsiteY5" fmla="*/ 2334473 h 2334473"/>
              <a:gd name="connsiteX6" fmla="*/ 1282678 w 4367008"/>
              <a:gd name="connsiteY6" fmla="*/ 2334473 h 2334473"/>
              <a:gd name="connsiteX7" fmla="*/ 0 w 4367008"/>
              <a:gd name="connsiteY7" fmla="*/ 486540 h 2334473"/>
              <a:gd name="connsiteX8" fmla="*/ 0 w 4367008"/>
              <a:gd name="connsiteY8" fmla="*/ 389087 h 2334473"/>
              <a:gd name="connsiteX9" fmla="*/ 171545 w 4367008"/>
              <a:gd name="connsiteY9" fmla="*/ 66450 h 2334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67008" h="2334473">
                <a:moveTo>
                  <a:pt x="171545" y="66450"/>
                </a:moveTo>
                <a:cubicBezTo>
                  <a:pt x="233643" y="24497"/>
                  <a:pt x="308504" y="0"/>
                  <a:pt x="389087" y="0"/>
                </a:cubicBezTo>
                <a:lnTo>
                  <a:pt x="3977921" y="0"/>
                </a:lnTo>
                <a:cubicBezTo>
                  <a:pt x="4192808" y="0"/>
                  <a:pt x="4367008" y="174200"/>
                  <a:pt x="4367008" y="389087"/>
                </a:cubicBezTo>
                <a:lnTo>
                  <a:pt x="4367008" y="1945386"/>
                </a:lnTo>
                <a:cubicBezTo>
                  <a:pt x="4367008" y="2160273"/>
                  <a:pt x="4192808" y="2334473"/>
                  <a:pt x="3977921" y="2334473"/>
                </a:cubicBezTo>
                <a:lnTo>
                  <a:pt x="1282678" y="2334473"/>
                </a:lnTo>
                <a:lnTo>
                  <a:pt x="0" y="486540"/>
                </a:lnTo>
                <a:lnTo>
                  <a:pt x="0" y="389087"/>
                </a:lnTo>
                <a:cubicBezTo>
                  <a:pt x="0" y="254783"/>
                  <a:pt x="68047" y="136372"/>
                  <a:pt x="171545" y="66450"/>
                </a:cubicBezTo>
                <a:close/>
              </a:path>
            </a:pathLst>
          </a:custGeom>
          <a:solidFill>
            <a:srgbClr val="F8BBD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52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13B68D6-47CA-D47F-41DC-38776BFE9AF0}"/>
              </a:ext>
            </a:extLst>
          </p:cNvPr>
          <p:cNvSpPr/>
          <p:nvPr/>
        </p:nvSpPr>
        <p:spPr>
          <a:xfrm rot="2085906">
            <a:off x="-2568827" y="3047246"/>
            <a:ext cx="7098975" cy="7621508"/>
          </a:xfrm>
          <a:custGeom>
            <a:avLst/>
            <a:gdLst>
              <a:gd name="connsiteX0" fmla="*/ 283012 w 6404936"/>
              <a:gd name="connsiteY0" fmla="*/ 188079 h 6924593"/>
              <a:gd name="connsiteX1" fmla="*/ 898740 w 6404936"/>
              <a:gd name="connsiteY1" fmla="*/ 0 h 6924593"/>
              <a:gd name="connsiteX2" fmla="*/ 5303670 w 6404936"/>
              <a:gd name="connsiteY2" fmla="*/ 0 h 6924593"/>
              <a:gd name="connsiteX3" fmla="*/ 6404936 w 6404936"/>
              <a:gd name="connsiteY3" fmla="*/ 1101266 h 6924593"/>
              <a:gd name="connsiteX4" fmla="*/ 6404936 w 6404936"/>
              <a:gd name="connsiteY4" fmla="*/ 5823327 h 6924593"/>
              <a:gd name="connsiteX5" fmla="*/ 5303670 w 6404936"/>
              <a:gd name="connsiteY5" fmla="*/ 6924593 h 6924593"/>
              <a:gd name="connsiteX6" fmla="*/ 4482854 w 6404936"/>
              <a:gd name="connsiteY6" fmla="*/ 6924593 h 6924593"/>
              <a:gd name="connsiteX7" fmla="*/ 0 w 6404936"/>
              <a:gd name="connsiteY7" fmla="*/ 466219 h 6924593"/>
              <a:gd name="connsiteX8" fmla="*/ 48950 w 6404936"/>
              <a:gd name="connsiteY8" fmla="*/ 400759 h 6924593"/>
              <a:gd name="connsiteX9" fmla="*/ 283012 w 6404936"/>
              <a:gd name="connsiteY9" fmla="*/ 188079 h 692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04936" h="6924593">
                <a:moveTo>
                  <a:pt x="283012" y="188079"/>
                </a:moveTo>
                <a:cubicBezTo>
                  <a:pt x="458775" y="69336"/>
                  <a:pt x="670661" y="0"/>
                  <a:pt x="898740" y="0"/>
                </a:cubicBezTo>
                <a:lnTo>
                  <a:pt x="5303670" y="0"/>
                </a:lnTo>
                <a:cubicBezTo>
                  <a:pt x="5911882" y="0"/>
                  <a:pt x="6404936" y="493054"/>
                  <a:pt x="6404936" y="1101266"/>
                </a:cubicBezTo>
                <a:lnTo>
                  <a:pt x="6404936" y="5823327"/>
                </a:lnTo>
                <a:cubicBezTo>
                  <a:pt x="6404936" y="6431539"/>
                  <a:pt x="5911882" y="6924593"/>
                  <a:pt x="5303670" y="6924593"/>
                </a:cubicBezTo>
                <a:lnTo>
                  <a:pt x="4482854" y="6924593"/>
                </a:lnTo>
                <a:lnTo>
                  <a:pt x="0" y="466219"/>
                </a:lnTo>
                <a:lnTo>
                  <a:pt x="48950" y="400759"/>
                </a:lnTo>
                <a:cubicBezTo>
                  <a:pt x="116279" y="319174"/>
                  <a:pt x="195130" y="247451"/>
                  <a:pt x="283012" y="188079"/>
                </a:cubicBezTo>
                <a:close/>
              </a:path>
            </a:pathLst>
          </a:custGeom>
          <a:solidFill>
            <a:srgbClr val="F8BBD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20" i="0" u="none" strike="noStrike" kern="1200" normalizeH="0" baseline="0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8675D6-F94F-23AB-5312-34C822625057}"/>
              </a:ext>
            </a:extLst>
          </p:cNvPr>
          <p:cNvSpPr/>
          <p:nvPr/>
        </p:nvSpPr>
        <p:spPr>
          <a:xfrm>
            <a:off x="227837" y="3609105"/>
            <a:ext cx="6108309" cy="1739976"/>
          </a:xfrm>
          <a:prstGeom prst="rect">
            <a:avLst/>
          </a:prstGeom>
          <a:noFill/>
        </p:spPr>
        <p:txBody>
          <a:bodyPr wrap="square" lIns="77228" tIns="38614" rIns="77228" bIns="3861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Power BI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Manager Guide</a:t>
            </a:r>
          </a:p>
        </p:txBody>
      </p:sp>
    </p:spTree>
    <p:extLst>
      <p:ext uri="{BB962C8B-B14F-4D97-AF65-F5344CB8AC3E}">
        <p14:creationId xmlns:p14="http://schemas.microsoft.com/office/powerpoint/2010/main" val="428826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FE521-1A0F-69D9-C5FA-4D466685C76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86328" y="157884"/>
            <a:ext cx="10058400" cy="76200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DAX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C2990F-8FA6-DAC5-3549-D514141AE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672" y="995533"/>
            <a:ext cx="8759056" cy="486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03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40DC87-4438-5298-CD38-A5207DB8F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75" y="717512"/>
            <a:ext cx="9618453" cy="5422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02BB9A-6721-9C37-9D58-DDF0693EE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74" y="717512"/>
            <a:ext cx="10182431" cy="5422974"/>
          </a:xfrm>
          <a:prstGeom prst="rect">
            <a:avLst/>
          </a:prstGeom>
        </p:spPr>
      </p:pic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F812EC6C-C308-A0F9-FC1F-870F54EF20B6}"/>
              </a:ext>
            </a:extLst>
          </p:cNvPr>
          <p:cNvCxnSpPr/>
          <p:nvPr/>
        </p:nvCxnSpPr>
        <p:spPr>
          <a:xfrm>
            <a:off x="1078302" y="1285336"/>
            <a:ext cx="6185140" cy="3114136"/>
          </a:xfrm>
          <a:prstGeom prst="curvedConnector3">
            <a:avLst>
              <a:gd name="adj1" fmla="val 9728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04D8E06F-116F-338A-ADCF-42DC650B7FDF}"/>
              </a:ext>
            </a:extLst>
          </p:cNvPr>
          <p:cNvCxnSpPr>
            <a:cxnSpLocks/>
          </p:cNvCxnSpPr>
          <p:nvPr/>
        </p:nvCxnSpPr>
        <p:spPr>
          <a:xfrm>
            <a:off x="2730259" y="3316856"/>
            <a:ext cx="4533183" cy="1143001"/>
          </a:xfrm>
          <a:prstGeom prst="curvedConnector3">
            <a:avLst>
              <a:gd name="adj1" fmla="val 8901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623D571-1BCD-ED55-A64A-D22E4DACF370}"/>
              </a:ext>
            </a:extLst>
          </p:cNvPr>
          <p:cNvCxnSpPr/>
          <p:nvPr/>
        </p:nvCxnSpPr>
        <p:spPr>
          <a:xfrm>
            <a:off x="4278702" y="3631721"/>
            <a:ext cx="2639683" cy="84538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7A79AB0-55ED-DFF0-72C3-1ED01CA3421E}"/>
              </a:ext>
            </a:extLst>
          </p:cNvPr>
          <p:cNvCxnSpPr>
            <a:cxnSpLocks/>
          </p:cNvCxnSpPr>
          <p:nvPr/>
        </p:nvCxnSpPr>
        <p:spPr>
          <a:xfrm>
            <a:off x="5408762" y="4546121"/>
            <a:ext cx="1699404" cy="6038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CEAB6C6-B0BA-3145-4531-FD42A7DB01AD}"/>
              </a:ext>
            </a:extLst>
          </p:cNvPr>
          <p:cNvCxnSpPr>
            <a:cxnSpLocks/>
          </p:cNvCxnSpPr>
          <p:nvPr/>
        </p:nvCxnSpPr>
        <p:spPr>
          <a:xfrm>
            <a:off x="7841411" y="1440611"/>
            <a:ext cx="0" cy="288984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AF50D812-049E-A6C3-0F3C-CEBE4F6AE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8395" y="717512"/>
            <a:ext cx="1406008" cy="4908430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4215BC3-2EB3-E36B-C005-F66B9384A770}"/>
              </a:ext>
            </a:extLst>
          </p:cNvPr>
          <p:cNvCxnSpPr>
            <a:cxnSpLocks/>
          </p:cNvCxnSpPr>
          <p:nvPr/>
        </p:nvCxnSpPr>
        <p:spPr>
          <a:xfrm flipH="1">
            <a:off x="8255479" y="4482860"/>
            <a:ext cx="2242916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237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508F9-F8C9-9683-4D49-2D561E2AF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C33FE1E-B6B5-66BB-335E-602989F820EE}"/>
              </a:ext>
            </a:extLst>
          </p:cNvPr>
          <p:cNvSpPr/>
          <p:nvPr/>
        </p:nvSpPr>
        <p:spPr>
          <a:xfrm rot="-5220000">
            <a:off x="3118153" y="-974217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967AEE4-DE7C-D45A-23B7-4A45852346DE}"/>
              </a:ext>
            </a:extLst>
          </p:cNvPr>
          <p:cNvGrpSpPr/>
          <p:nvPr/>
        </p:nvGrpSpPr>
        <p:grpSpPr>
          <a:xfrm rot="-5220000">
            <a:off x="7460761" y="2563210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6418CDB-4ECB-C2A5-723C-AE44F8847C24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743E061-6431-097F-9FE6-7B461A322F77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1471F95-863B-51C4-78FE-52AA9BD603FF}"/>
              </a:ext>
            </a:extLst>
          </p:cNvPr>
          <p:cNvSpPr txBox="1"/>
          <p:nvPr/>
        </p:nvSpPr>
        <p:spPr>
          <a:xfrm>
            <a:off x="0" y="2673467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27650E-8804-E34D-049A-96AAF8414D3E}"/>
              </a:ext>
            </a:extLst>
          </p:cNvPr>
          <p:cNvSpPr txBox="1"/>
          <p:nvPr/>
        </p:nvSpPr>
        <p:spPr>
          <a:xfrm rot="60000">
            <a:off x="331079" y="2842745"/>
            <a:ext cx="7794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3200" b="1" dirty="0">
                <a:solidFill>
                  <a:prstClr val="white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Row context and filter context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V Boli" panose="02000500030200090000" pitchFamily="2" charset="0"/>
              <a:ea typeface="Open Sans" panose="020B0606030504020204" pitchFamily="34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37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2E0D04-1B36-443B-5424-C90A4A4A3964}"/>
              </a:ext>
            </a:extLst>
          </p:cNvPr>
          <p:cNvSpPr/>
          <p:nvPr/>
        </p:nvSpPr>
        <p:spPr>
          <a:xfrm>
            <a:off x="901050" y="1191801"/>
            <a:ext cx="694536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is the total Sales for each Product?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D3936B-D40F-BD8B-9D93-23A52421AD9F}"/>
              </a:ext>
            </a:extLst>
          </p:cNvPr>
          <p:cNvSpPr/>
          <p:nvPr/>
        </p:nvSpPr>
        <p:spPr>
          <a:xfrm>
            <a:off x="901050" y="2054415"/>
            <a:ext cx="725865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is the Top Selling Items By Category?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E42D8-E9A1-D95B-7DC0-5373A4049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985" y="2871192"/>
            <a:ext cx="6726768" cy="2695237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253A0D3-2D32-FEF3-C312-F6A65B2B37D7}"/>
              </a:ext>
            </a:extLst>
          </p:cNvPr>
          <p:cNvSpPr/>
          <p:nvPr/>
        </p:nvSpPr>
        <p:spPr>
          <a:xfrm>
            <a:off x="0" y="-1392"/>
            <a:ext cx="12192000" cy="758488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Row Context and Filter Context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1616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15EA57-1358-CEA0-51D0-ED9587689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344" y="757096"/>
            <a:ext cx="9754656" cy="548126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D52F48B-AF5A-0D7B-0B10-C917D7FD8CC1}"/>
              </a:ext>
            </a:extLst>
          </p:cNvPr>
          <p:cNvGrpSpPr/>
          <p:nvPr/>
        </p:nvGrpSpPr>
        <p:grpSpPr>
          <a:xfrm>
            <a:off x="949286" y="5362113"/>
            <a:ext cx="6094520" cy="795260"/>
            <a:chOff x="949286" y="5362113"/>
            <a:chExt cx="6094520" cy="79526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538FDA5-E7D8-70F9-AF6E-E6623C8D81CC}"/>
                </a:ext>
              </a:extLst>
            </p:cNvPr>
            <p:cNvSpPr txBox="1"/>
            <p:nvPr/>
          </p:nvSpPr>
          <p:spPr>
            <a:xfrm>
              <a:off x="949286" y="5575077"/>
              <a:ext cx="6094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rgbClr val="333333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DAX computes formulas within a context</a:t>
              </a:r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258C2E3-CC60-C23E-6099-60E8B3C74DF3}"/>
                </a:ext>
              </a:extLst>
            </p:cNvPr>
            <p:cNvCxnSpPr>
              <a:cxnSpLocks/>
            </p:cNvCxnSpPr>
            <p:nvPr/>
          </p:nvCxnSpPr>
          <p:spPr>
            <a:xfrm>
              <a:off x="949286" y="5362113"/>
              <a:ext cx="0" cy="795260"/>
            </a:xfrm>
            <a:prstGeom prst="line">
              <a:avLst/>
            </a:prstGeom>
            <a:ln w="38100">
              <a:solidFill>
                <a:srgbClr val="EE26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A9386FF-EF20-CE87-7C98-4AEA09D5F1DB}"/>
              </a:ext>
            </a:extLst>
          </p:cNvPr>
          <p:cNvSpPr/>
          <p:nvPr/>
        </p:nvSpPr>
        <p:spPr>
          <a:xfrm>
            <a:off x="0" y="-1392"/>
            <a:ext cx="12192000" cy="758488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DAX Formulas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756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56FDB7-6966-AC7C-1F32-C7B1763B8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059" y="757096"/>
            <a:ext cx="9749942" cy="54948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45DD9D-B3FB-88A2-E786-6405781C25B7}"/>
              </a:ext>
            </a:extLst>
          </p:cNvPr>
          <p:cNvSpPr txBox="1"/>
          <p:nvPr/>
        </p:nvSpPr>
        <p:spPr>
          <a:xfrm>
            <a:off x="1145220" y="5389616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Row context refers to the tables current row being evaluated within a calculation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E577F7-9CCC-F7D5-0089-630818226CDD}"/>
              </a:ext>
            </a:extLst>
          </p:cNvPr>
          <p:cNvCxnSpPr>
            <a:cxnSpLocks/>
          </p:cNvCxnSpPr>
          <p:nvPr/>
        </p:nvCxnSpPr>
        <p:spPr>
          <a:xfrm>
            <a:off x="1145220" y="5326603"/>
            <a:ext cx="0" cy="795260"/>
          </a:xfrm>
          <a:prstGeom prst="line">
            <a:avLst/>
          </a:prstGeom>
          <a:ln w="38100">
            <a:solidFill>
              <a:srgbClr val="EE2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26A8CB3-9DDA-B996-12F8-F0564804CBB0}"/>
              </a:ext>
            </a:extLst>
          </p:cNvPr>
          <p:cNvSpPr/>
          <p:nvPr/>
        </p:nvSpPr>
        <p:spPr>
          <a:xfrm>
            <a:off x="0" y="-1392"/>
            <a:ext cx="12192000" cy="758488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DAX Formulas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1123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D3C28E-9592-794B-8F7A-E5B1D89D8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17" y="1047300"/>
            <a:ext cx="5140131" cy="4905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B3A256-A9AF-B071-9515-028D526E5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863" y="1614151"/>
            <a:ext cx="5185484" cy="11166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632DBF-DADB-9613-A24B-9F8B05899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863" y="2807087"/>
            <a:ext cx="5517504" cy="11166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2ABCAE-E51B-51E3-B241-A0F08F86B4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863" y="4193986"/>
            <a:ext cx="5009076" cy="1393057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867AEED-AD9B-3C44-4D30-B61BA0B74FE2}"/>
              </a:ext>
            </a:extLst>
          </p:cNvPr>
          <p:cNvSpPr/>
          <p:nvPr/>
        </p:nvSpPr>
        <p:spPr>
          <a:xfrm>
            <a:off x="0" y="-7615"/>
            <a:ext cx="12192000" cy="758488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DAX Context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79145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E756D7-AFAE-5266-B5CA-34C535F60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090" y="67912"/>
            <a:ext cx="7335274" cy="5258534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60606D8-4500-9CD1-A166-C4F9A0D3A514}"/>
              </a:ext>
            </a:extLst>
          </p:cNvPr>
          <p:cNvSpPr/>
          <p:nvPr/>
        </p:nvSpPr>
        <p:spPr>
          <a:xfrm>
            <a:off x="0" y="-1392"/>
            <a:ext cx="12192000" cy="758488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Row Context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24326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3016C2-FAD6-49AD-5783-6EA55BB3E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62" y="1243095"/>
            <a:ext cx="8268854" cy="34485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4268F3-404F-6C5D-DD40-7CCA966C8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5453" y="1401999"/>
            <a:ext cx="1695687" cy="320084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1EA3B7-90EF-A07B-F50D-A394BB37CB75}"/>
              </a:ext>
            </a:extLst>
          </p:cNvPr>
          <p:cNvGrpSpPr/>
          <p:nvPr/>
        </p:nvGrpSpPr>
        <p:grpSpPr>
          <a:xfrm>
            <a:off x="696864" y="5237827"/>
            <a:ext cx="6945363" cy="795260"/>
            <a:chOff x="696864" y="5237827"/>
            <a:chExt cx="6945363" cy="79526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C9BBA88-42DB-7876-F743-F9F985A07796}"/>
                </a:ext>
              </a:extLst>
            </p:cNvPr>
            <p:cNvSpPr/>
            <p:nvPr/>
          </p:nvSpPr>
          <p:spPr>
            <a:xfrm>
              <a:off x="696864" y="5322517"/>
              <a:ext cx="6945363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What is the total Sales for each Product?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FC7FBB0-4189-6F7C-B7A8-F21D8655FC81}"/>
                </a:ext>
              </a:extLst>
            </p:cNvPr>
            <p:cNvCxnSpPr>
              <a:cxnSpLocks/>
            </p:cNvCxnSpPr>
            <p:nvPr/>
          </p:nvCxnSpPr>
          <p:spPr>
            <a:xfrm>
              <a:off x="763480" y="5237827"/>
              <a:ext cx="0" cy="795260"/>
            </a:xfrm>
            <a:prstGeom prst="line">
              <a:avLst/>
            </a:prstGeom>
            <a:ln w="38100">
              <a:solidFill>
                <a:srgbClr val="EE26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34D90A1-8D36-D92A-CA89-46FB42AFB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662" y="1325044"/>
            <a:ext cx="9812119" cy="34294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A6FB4F-C80B-776B-FE68-E761778B9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662" y="1426592"/>
            <a:ext cx="9850225" cy="3372321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71189A1-B916-41F3-AB32-744B7F2593B4}"/>
              </a:ext>
            </a:extLst>
          </p:cNvPr>
          <p:cNvSpPr/>
          <p:nvPr/>
        </p:nvSpPr>
        <p:spPr>
          <a:xfrm>
            <a:off x="0" y="-19730"/>
            <a:ext cx="12192000" cy="758488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Row Context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41607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9688A6-EB8B-A6DF-D8CC-5E0E3D2B7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689" y="738758"/>
            <a:ext cx="9740311" cy="5490411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383BA09-765F-4EA4-42ED-80BB4E1A14EC}"/>
              </a:ext>
            </a:extLst>
          </p:cNvPr>
          <p:cNvSpPr/>
          <p:nvPr/>
        </p:nvSpPr>
        <p:spPr>
          <a:xfrm>
            <a:off x="0" y="-19730"/>
            <a:ext cx="12192000" cy="758488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Filter Context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7943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618B0-30D3-9C98-20B8-20333909B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752DD6-40A6-80F1-C2B2-D5163D356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571" y="1150765"/>
            <a:ext cx="4446633" cy="8935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06D74B-72D7-3319-81E9-426F4692F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571" y="1822674"/>
            <a:ext cx="5331974" cy="18285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2E4ACB-3D6F-40E4-0400-8A9C2C1C9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033" y="4169317"/>
            <a:ext cx="5530514" cy="846028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67E2192-0FC6-62B7-2362-3188EA9FA1B5}"/>
              </a:ext>
            </a:extLst>
          </p:cNvPr>
          <p:cNvSpPr/>
          <p:nvPr/>
        </p:nvSpPr>
        <p:spPr>
          <a:xfrm>
            <a:off x="0" y="-19730"/>
            <a:ext cx="12192000" cy="758488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Filter Context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95643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4F2978-C37D-F108-1596-F50F08260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68" y="1376038"/>
            <a:ext cx="9831172" cy="332468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0F22DC7-E8E1-E0FE-BEE8-31AC9BB92CCF}"/>
              </a:ext>
            </a:extLst>
          </p:cNvPr>
          <p:cNvGrpSpPr/>
          <p:nvPr/>
        </p:nvGrpSpPr>
        <p:grpSpPr>
          <a:xfrm>
            <a:off x="763480" y="5173792"/>
            <a:ext cx="6182980" cy="923330"/>
            <a:chOff x="763480" y="5173792"/>
            <a:chExt cx="6182980" cy="92333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304084F-4250-2E93-E48B-D7C422C3923F}"/>
                </a:ext>
              </a:extLst>
            </p:cNvPr>
            <p:cNvSpPr txBox="1"/>
            <p:nvPr/>
          </p:nvSpPr>
          <p:spPr>
            <a:xfrm>
              <a:off x="851940" y="5173792"/>
              <a:ext cx="609452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rgbClr val="333333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In the previous example, a different result was produced in each cell because the same DAX expression was evaluated against different subsets of data</a:t>
              </a:r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A04C477-593B-1C76-6CE4-166297D2C779}"/>
                </a:ext>
              </a:extLst>
            </p:cNvPr>
            <p:cNvCxnSpPr>
              <a:cxnSpLocks/>
            </p:cNvCxnSpPr>
            <p:nvPr/>
          </p:nvCxnSpPr>
          <p:spPr>
            <a:xfrm>
              <a:off x="763480" y="5237827"/>
              <a:ext cx="0" cy="795260"/>
            </a:xfrm>
            <a:prstGeom prst="line">
              <a:avLst/>
            </a:prstGeom>
            <a:ln w="38100">
              <a:solidFill>
                <a:srgbClr val="EE26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E48A2D3-6EC7-2E67-DAF4-8E769C4D15AD}"/>
              </a:ext>
            </a:extLst>
          </p:cNvPr>
          <p:cNvSpPr/>
          <p:nvPr/>
        </p:nvSpPr>
        <p:spPr>
          <a:xfrm>
            <a:off x="0" y="-19730"/>
            <a:ext cx="12192000" cy="758488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Row Context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9413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0F4D10A-3131-D6E1-3363-57D298DA7950}"/>
              </a:ext>
            </a:extLst>
          </p:cNvPr>
          <p:cNvGrpSpPr/>
          <p:nvPr/>
        </p:nvGrpSpPr>
        <p:grpSpPr>
          <a:xfrm>
            <a:off x="2254479" y="352587"/>
            <a:ext cx="7097115" cy="4963218"/>
            <a:chOff x="2254479" y="352587"/>
            <a:chExt cx="7097115" cy="496321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A8C78C8-B304-D70B-9998-1B7B489FD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4479" y="352587"/>
              <a:ext cx="7097115" cy="4963218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9E5116D-B0FA-8E4D-3FC2-9CE64250D740}"/>
                </a:ext>
              </a:extLst>
            </p:cNvPr>
            <p:cNvSpPr/>
            <p:nvPr/>
          </p:nvSpPr>
          <p:spPr>
            <a:xfrm>
              <a:off x="4278701" y="590362"/>
              <a:ext cx="3295291" cy="491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E12D528-DB77-F69A-12B0-7BDE11BC5427}"/>
              </a:ext>
            </a:extLst>
          </p:cNvPr>
          <p:cNvSpPr/>
          <p:nvPr/>
        </p:nvSpPr>
        <p:spPr>
          <a:xfrm>
            <a:off x="8635" y="8632"/>
            <a:ext cx="12192000" cy="758488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Filter Context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35336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5034C7-6ED0-FE28-9949-B665AE7FF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41" y="1119457"/>
            <a:ext cx="8287907" cy="342947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5EF1791-3FFD-77D7-B961-86AAC3236569}"/>
              </a:ext>
            </a:extLst>
          </p:cNvPr>
          <p:cNvGrpSpPr/>
          <p:nvPr/>
        </p:nvGrpSpPr>
        <p:grpSpPr>
          <a:xfrm>
            <a:off x="763480" y="5237827"/>
            <a:ext cx="6200735" cy="795260"/>
            <a:chOff x="763480" y="5237827"/>
            <a:chExt cx="6200735" cy="79526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67B2AA-5B2A-3BDB-3C94-5AE3573F2336}"/>
                </a:ext>
              </a:extLst>
            </p:cNvPr>
            <p:cNvSpPr txBox="1"/>
            <p:nvPr/>
          </p:nvSpPr>
          <p:spPr>
            <a:xfrm>
              <a:off x="869695" y="5450791"/>
              <a:ext cx="6094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rgbClr val="333333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calculate the total sales for all items in Category X</a:t>
              </a:r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7AB7B33-B5E2-2E2C-6353-4556C2582A5F}"/>
                </a:ext>
              </a:extLst>
            </p:cNvPr>
            <p:cNvCxnSpPr>
              <a:cxnSpLocks/>
            </p:cNvCxnSpPr>
            <p:nvPr/>
          </p:nvCxnSpPr>
          <p:spPr>
            <a:xfrm>
              <a:off x="763480" y="5237827"/>
              <a:ext cx="0" cy="795260"/>
            </a:xfrm>
            <a:prstGeom prst="line">
              <a:avLst/>
            </a:prstGeom>
            <a:ln w="38100">
              <a:solidFill>
                <a:srgbClr val="EE26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549F2F4-2610-449F-FBA2-B4B056408E71}"/>
              </a:ext>
            </a:extLst>
          </p:cNvPr>
          <p:cNvSpPr/>
          <p:nvPr/>
        </p:nvSpPr>
        <p:spPr>
          <a:xfrm>
            <a:off x="-8629" y="8640"/>
            <a:ext cx="12192000" cy="758488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Filter Context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09142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7511B8-30BC-CDDE-8976-D21EC8273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441" y="1214128"/>
            <a:ext cx="8907118" cy="4429743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4C67689-0EA1-67C4-1548-D205DE3A4FA8}"/>
              </a:ext>
            </a:extLst>
          </p:cNvPr>
          <p:cNvSpPr/>
          <p:nvPr/>
        </p:nvSpPr>
        <p:spPr>
          <a:xfrm>
            <a:off x="-8625" y="8643"/>
            <a:ext cx="12192000" cy="758488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Filter Context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73625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758415-26C8-5665-3701-B75120696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03" y="1699971"/>
            <a:ext cx="9983593" cy="3458058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0BCD5B1-9BCB-A39F-EEEE-B08638AADEC7}"/>
              </a:ext>
            </a:extLst>
          </p:cNvPr>
          <p:cNvSpPr/>
          <p:nvPr/>
        </p:nvSpPr>
        <p:spPr>
          <a:xfrm>
            <a:off x="-8625" y="8643"/>
            <a:ext cx="12192000" cy="758488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Filter Context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57972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A2141AE-6F07-2400-6519-509AECDA6A62}"/>
              </a:ext>
            </a:extLst>
          </p:cNvPr>
          <p:cNvSpPr/>
          <p:nvPr/>
        </p:nvSpPr>
        <p:spPr>
          <a:xfrm>
            <a:off x="3344458" y="2434675"/>
            <a:ext cx="52545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Filter </a:t>
            </a:r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 Calculate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8A69066-D32A-0ACB-EC4E-DC75B5E5E44F}"/>
              </a:ext>
            </a:extLst>
          </p:cNvPr>
          <p:cNvSpPr/>
          <p:nvPr/>
        </p:nvSpPr>
        <p:spPr>
          <a:xfrm>
            <a:off x="3906175" y="3675355"/>
            <a:ext cx="630314" cy="63919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B4B66DA-D430-EA60-EF64-F05871F4AF3C}"/>
              </a:ext>
            </a:extLst>
          </p:cNvPr>
          <p:cNvSpPr/>
          <p:nvPr/>
        </p:nvSpPr>
        <p:spPr>
          <a:xfrm>
            <a:off x="6781153" y="3675355"/>
            <a:ext cx="630314" cy="63919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2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BC5F392-B1DB-C41E-D2F8-7B070DE8B661}"/>
              </a:ext>
            </a:extLst>
          </p:cNvPr>
          <p:cNvSpPr/>
          <p:nvPr/>
        </p:nvSpPr>
        <p:spPr>
          <a:xfrm>
            <a:off x="-8625" y="8643"/>
            <a:ext cx="12192000" cy="758488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Filter Context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21304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3D57D6-1826-9EB0-0343-EDD3651CF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41" y="1708201"/>
            <a:ext cx="9859751" cy="34771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ED6CE9-71DB-7AF8-E970-8BFB0CA4C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94" y="1741543"/>
            <a:ext cx="10002646" cy="341042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82FE761-D337-F540-A5ED-9F7599482D35}"/>
              </a:ext>
            </a:extLst>
          </p:cNvPr>
          <p:cNvGrpSpPr/>
          <p:nvPr/>
        </p:nvGrpSpPr>
        <p:grpSpPr>
          <a:xfrm>
            <a:off x="479391" y="5344358"/>
            <a:ext cx="2396971" cy="639193"/>
            <a:chOff x="1242874" y="5326602"/>
            <a:chExt cx="2396971" cy="63919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09B9D4A-AB42-B55F-78F7-CB086F535004}"/>
                </a:ext>
              </a:extLst>
            </p:cNvPr>
            <p:cNvSpPr/>
            <p:nvPr/>
          </p:nvSpPr>
          <p:spPr>
            <a:xfrm>
              <a:off x="1242874" y="5326602"/>
              <a:ext cx="630314" cy="63919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AF5C7F-B2E7-0E3C-69B2-14DBBCA36385}"/>
                </a:ext>
              </a:extLst>
            </p:cNvPr>
            <p:cNvSpPr txBox="1"/>
            <p:nvPr/>
          </p:nvSpPr>
          <p:spPr>
            <a:xfrm>
              <a:off x="2026328" y="5381020"/>
              <a:ext cx="161351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Filter</a:t>
              </a:r>
              <a:endParaRPr lang="en-US" sz="3200" dirty="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8C1327E4-98F9-B571-2148-FC70A8ADF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26" y="1789174"/>
            <a:ext cx="9726382" cy="331516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F006930-4ADE-8276-5B77-D039D3A2E42B}"/>
              </a:ext>
            </a:extLst>
          </p:cNvPr>
          <p:cNvGrpSpPr/>
          <p:nvPr/>
        </p:nvGrpSpPr>
        <p:grpSpPr>
          <a:xfrm>
            <a:off x="5332516" y="5344357"/>
            <a:ext cx="2719527" cy="639193"/>
            <a:chOff x="1242874" y="5326602"/>
            <a:chExt cx="2719527" cy="639193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7A0D8F5-4721-157A-4A10-DE4D469B379D}"/>
                </a:ext>
              </a:extLst>
            </p:cNvPr>
            <p:cNvSpPr/>
            <p:nvPr/>
          </p:nvSpPr>
          <p:spPr>
            <a:xfrm>
              <a:off x="1242874" y="5326602"/>
              <a:ext cx="630314" cy="63919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807789D-3159-E227-CD52-3ABFAF8905E2}"/>
                </a:ext>
              </a:extLst>
            </p:cNvPr>
            <p:cNvSpPr txBox="1"/>
            <p:nvPr/>
          </p:nvSpPr>
          <p:spPr>
            <a:xfrm>
              <a:off x="2026328" y="5381020"/>
              <a:ext cx="193607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Calculate</a:t>
              </a:r>
              <a:endParaRPr lang="en-US" sz="3200" dirty="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5571257E-8B31-39C5-C6B1-909727A830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7955" y="1771418"/>
            <a:ext cx="1619476" cy="3258005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8086F0F-03FE-51DD-FF08-515132BD0233}"/>
              </a:ext>
            </a:extLst>
          </p:cNvPr>
          <p:cNvSpPr/>
          <p:nvPr/>
        </p:nvSpPr>
        <p:spPr>
          <a:xfrm>
            <a:off x="-8625" y="8643"/>
            <a:ext cx="12192000" cy="758488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Filter Context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9704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02C4C2-C112-5A5E-EDB9-5869F4CED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883" y="2286692"/>
            <a:ext cx="2181529" cy="200052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FE3FC1A-A116-5E41-7CFD-0F0F1915F860}"/>
              </a:ext>
            </a:extLst>
          </p:cNvPr>
          <p:cNvGrpSpPr/>
          <p:nvPr/>
        </p:nvGrpSpPr>
        <p:grpSpPr>
          <a:xfrm>
            <a:off x="1003103" y="289146"/>
            <a:ext cx="10345594" cy="5001323"/>
            <a:chOff x="1003103" y="289146"/>
            <a:chExt cx="10345594" cy="500132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1B2AA6F-8DC4-3156-692E-6BBAB0C17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3103" y="289146"/>
              <a:ext cx="10345594" cy="5001323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DA34410-5B2A-B33E-A50A-54BE68A621A6}"/>
                </a:ext>
              </a:extLst>
            </p:cNvPr>
            <p:cNvSpPr/>
            <p:nvPr/>
          </p:nvSpPr>
          <p:spPr>
            <a:xfrm>
              <a:off x="3355675" y="457200"/>
              <a:ext cx="5598544" cy="8022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36990E7-E2D9-61FC-B747-9C66D8AD5497}"/>
              </a:ext>
            </a:extLst>
          </p:cNvPr>
          <p:cNvSpPr/>
          <p:nvPr/>
        </p:nvSpPr>
        <p:spPr>
          <a:xfrm>
            <a:off x="-8625" y="8643"/>
            <a:ext cx="12192000" cy="758488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Applying Multiple Filters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2047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32D0746-E92A-CCF0-E204-5987C370152A}"/>
              </a:ext>
            </a:extLst>
          </p:cNvPr>
          <p:cNvGrpSpPr/>
          <p:nvPr/>
        </p:nvGrpSpPr>
        <p:grpSpPr>
          <a:xfrm>
            <a:off x="1456378" y="1897885"/>
            <a:ext cx="2143125" cy="2840819"/>
            <a:chOff x="1293686" y="1049846"/>
            <a:chExt cx="2143125" cy="2840819"/>
          </a:xfrm>
        </p:grpSpPr>
        <p:pic>
          <p:nvPicPr>
            <p:cNvPr id="3" name="Picture 2" descr="طقم مصفاة شاي ومشروبات 3 قطع مقاسات مختلفة، فضي">
              <a:extLst>
                <a:ext uri="{FF2B5EF4-FFF2-40B4-BE49-F238E27FC236}">
                  <a16:creationId xmlns:a16="http://schemas.microsoft.com/office/drawing/2014/main" id="{0416C75D-8A53-C295-5685-E7A742681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3686" y="1049846"/>
              <a:ext cx="214312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D0EBECB-4617-A9C2-999E-A7C2AEC1E75E}"/>
                </a:ext>
              </a:extLst>
            </p:cNvPr>
            <p:cNvSpPr/>
            <p:nvPr/>
          </p:nvSpPr>
          <p:spPr>
            <a:xfrm>
              <a:off x="1442055" y="2967335"/>
              <a:ext cx="1700081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Filter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" name="Arrow: Right 4">
            <a:extLst>
              <a:ext uri="{FF2B5EF4-FFF2-40B4-BE49-F238E27FC236}">
                <a16:creationId xmlns:a16="http://schemas.microsoft.com/office/drawing/2014/main" id="{D5B1D30C-A4B3-29D4-A97A-9516A3559C0C}"/>
              </a:ext>
            </a:extLst>
          </p:cNvPr>
          <p:cNvSpPr/>
          <p:nvPr/>
        </p:nvSpPr>
        <p:spPr>
          <a:xfrm>
            <a:off x="4892985" y="3020526"/>
            <a:ext cx="1258824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D4A361B-EAE2-FF6D-4F17-AC137DBF0FBE}"/>
              </a:ext>
            </a:extLst>
          </p:cNvPr>
          <p:cNvGrpSpPr/>
          <p:nvPr/>
        </p:nvGrpSpPr>
        <p:grpSpPr>
          <a:xfrm>
            <a:off x="7715471" y="1863810"/>
            <a:ext cx="2871782" cy="3282696"/>
            <a:chOff x="7409506" y="1858580"/>
            <a:chExt cx="3091039" cy="351213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B9FFB57-CFFB-A299-ACC6-F5BC0F853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75293" y="1858580"/>
              <a:ext cx="2525252" cy="2695133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547574D-3A2F-A35E-98F4-5268E27380A6}"/>
                </a:ext>
              </a:extLst>
            </p:cNvPr>
            <p:cNvSpPr/>
            <p:nvPr/>
          </p:nvSpPr>
          <p:spPr>
            <a:xfrm>
              <a:off x="7409506" y="4447382"/>
              <a:ext cx="30910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Calculate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D4D4F5-9501-98D2-2A94-55231E50AF57}"/>
              </a:ext>
            </a:extLst>
          </p:cNvPr>
          <p:cNvSpPr/>
          <p:nvPr/>
        </p:nvSpPr>
        <p:spPr>
          <a:xfrm>
            <a:off x="-8625" y="8643"/>
            <a:ext cx="12192000" cy="758488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Filter then Calculate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9751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2B398-0F74-82D4-AC3A-268593C37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6F3E430-36C0-7C42-EDEE-495A7885D937}"/>
              </a:ext>
            </a:extLst>
          </p:cNvPr>
          <p:cNvSpPr/>
          <p:nvPr/>
        </p:nvSpPr>
        <p:spPr>
          <a:xfrm rot="-5220000">
            <a:off x="3118153" y="-974217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EE265D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E62537E-43A4-5C2F-C9F2-674B96F29126}"/>
              </a:ext>
            </a:extLst>
          </p:cNvPr>
          <p:cNvGrpSpPr/>
          <p:nvPr/>
        </p:nvGrpSpPr>
        <p:grpSpPr>
          <a:xfrm rot="-5220000">
            <a:off x="7460761" y="2563210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D2085F8-5B40-03A7-96DE-06B48B0702B3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75117EB-45D7-4D38-1560-9864C07BB10D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7DC106D-41E8-3F56-FBE7-DCD8DDEE96BC}"/>
              </a:ext>
            </a:extLst>
          </p:cNvPr>
          <p:cNvSpPr txBox="1"/>
          <p:nvPr/>
        </p:nvSpPr>
        <p:spPr>
          <a:xfrm>
            <a:off x="0" y="2673467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EF3333-6E4F-0ED6-CE64-4C333CD4A884}"/>
              </a:ext>
            </a:extLst>
          </p:cNvPr>
          <p:cNvSpPr txBox="1"/>
          <p:nvPr/>
        </p:nvSpPr>
        <p:spPr>
          <a:xfrm rot="60000">
            <a:off x="331079" y="2842745"/>
            <a:ext cx="7794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3200" b="1" dirty="0">
                <a:solidFill>
                  <a:prstClr val="white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Row Context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V Boli" panose="02000500030200090000" pitchFamily="2" charset="0"/>
              <a:ea typeface="Open Sans" panose="020B0606030504020204" pitchFamily="34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659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77268-ACD9-D4E6-AEB5-34522558D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6F43F80-EC2B-898F-5530-8813B9A3408A}"/>
              </a:ext>
            </a:extLst>
          </p:cNvPr>
          <p:cNvSpPr/>
          <p:nvPr/>
        </p:nvSpPr>
        <p:spPr>
          <a:xfrm>
            <a:off x="0" y="0"/>
            <a:ext cx="12192000" cy="667657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Row Context</a:t>
            </a:r>
            <a:endParaRPr lang="en-US" sz="16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C62DD67-6DFC-9C9B-67C6-AEF9E125C609}"/>
              </a:ext>
            </a:extLst>
          </p:cNvPr>
          <p:cNvGrpSpPr/>
          <p:nvPr/>
        </p:nvGrpSpPr>
        <p:grpSpPr>
          <a:xfrm>
            <a:off x="1154545" y="895869"/>
            <a:ext cx="10584873" cy="4959985"/>
            <a:chOff x="1477817" y="1376161"/>
            <a:chExt cx="9476509" cy="437270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DDDD558-4D02-A45B-5A31-A287AA9D5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0945" y="1376161"/>
              <a:ext cx="9393381" cy="4372706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D9DF936-900F-5719-3C0E-5E4F54F747AB}"/>
                </a:ext>
              </a:extLst>
            </p:cNvPr>
            <p:cNvSpPr/>
            <p:nvPr/>
          </p:nvSpPr>
          <p:spPr>
            <a:xfrm>
              <a:off x="1477817" y="1376162"/>
              <a:ext cx="120072" cy="4350384"/>
            </a:xfrm>
            <a:prstGeom prst="rect">
              <a:avLst/>
            </a:prstGeom>
            <a:solidFill>
              <a:srgbClr val="F2F2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3945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94828-2FBE-D96B-91DA-1242FCFEC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5A46A10-CE16-20ED-A549-EA4A3582E912}"/>
              </a:ext>
            </a:extLst>
          </p:cNvPr>
          <p:cNvSpPr/>
          <p:nvPr/>
        </p:nvSpPr>
        <p:spPr>
          <a:xfrm>
            <a:off x="0" y="0"/>
            <a:ext cx="12192000" cy="667657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Iterators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2D56D8-1CAF-0A95-335A-EB6B3D1D0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80" y="1120523"/>
            <a:ext cx="11211605" cy="400565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67591F8-409F-9633-6BF0-428756F60FA6}"/>
              </a:ext>
            </a:extLst>
          </p:cNvPr>
          <p:cNvGrpSpPr/>
          <p:nvPr/>
        </p:nvGrpSpPr>
        <p:grpSpPr>
          <a:xfrm>
            <a:off x="3140364" y="1551709"/>
            <a:ext cx="4562763" cy="424873"/>
            <a:chOff x="3140364" y="1551709"/>
            <a:chExt cx="4562763" cy="42487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3292AB7-B0D9-8969-80BF-70BBBE0B9EDB}"/>
                </a:ext>
              </a:extLst>
            </p:cNvPr>
            <p:cNvSpPr/>
            <p:nvPr/>
          </p:nvSpPr>
          <p:spPr>
            <a:xfrm>
              <a:off x="3140364" y="1551709"/>
              <a:ext cx="1265381" cy="424873"/>
            </a:xfrm>
            <a:prstGeom prst="rect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1488CC5-5FC6-3B1C-0FBB-C7765FB14471}"/>
                </a:ext>
              </a:extLst>
            </p:cNvPr>
            <p:cNvSpPr/>
            <p:nvPr/>
          </p:nvSpPr>
          <p:spPr>
            <a:xfrm>
              <a:off x="5620328" y="1551709"/>
              <a:ext cx="2082799" cy="424873"/>
            </a:xfrm>
            <a:prstGeom prst="rect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D550082-AD99-68AA-2630-183C9C88A3E7}"/>
              </a:ext>
            </a:extLst>
          </p:cNvPr>
          <p:cNvGrpSpPr/>
          <p:nvPr/>
        </p:nvGrpSpPr>
        <p:grpSpPr>
          <a:xfrm>
            <a:off x="4883729" y="2030019"/>
            <a:ext cx="5728853" cy="424874"/>
            <a:chOff x="4883729" y="2030019"/>
            <a:chExt cx="5728853" cy="42487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A81B1D0-217A-D58D-009A-20FD3BC798AF}"/>
                </a:ext>
              </a:extLst>
            </p:cNvPr>
            <p:cNvSpPr/>
            <p:nvPr/>
          </p:nvSpPr>
          <p:spPr>
            <a:xfrm>
              <a:off x="4883729" y="2030020"/>
              <a:ext cx="736600" cy="424873"/>
            </a:xfrm>
            <a:prstGeom prst="rect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BD5FD99-12C2-3597-EE32-D97BF344D07D}"/>
                </a:ext>
              </a:extLst>
            </p:cNvPr>
            <p:cNvSpPr/>
            <p:nvPr/>
          </p:nvSpPr>
          <p:spPr>
            <a:xfrm>
              <a:off x="8462820" y="2030019"/>
              <a:ext cx="2149762" cy="424873"/>
            </a:xfrm>
            <a:prstGeom prst="rect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A3890F5-2F6A-820E-95E2-97B30DCD47A9}"/>
              </a:ext>
            </a:extLst>
          </p:cNvPr>
          <p:cNvGrpSpPr/>
          <p:nvPr/>
        </p:nvGrpSpPr>
        <p:grpSpPr>
          <a:xfrm>
            <a:off x="1251526" y="2900218"/>
            <a:ext cx="5105402" cy="886690"/>
            <a:chOff x="1251526" y="2900218"/>
            <a:chExt cx="5105402" cy="88669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D79162F-EEC9-9CC4-4FA4-B265BE9484A5}"/>
                </a:ext>
              </a:extLst>
            </p:cNvPr>
            <p:cNvCxnSpPr/>
            <p:nvPr/>
          </p:nvCxnSpPr>
          <p:spPr>
            <a:xfrm>
              <a:off x="5015345" y="2900218"/>
              <a:ext cx="1341583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64F63ED-28A8-B6B8-8C49-AFE43A86318B}"/>
                </a:ext>
              </a:extLst>
            </p:cNvPr>
            <p:cNvCxnSpPr>
              <a:cxnSpLocks/>
            </p:cNvCxnSpPr>
            <p:nvPr/>
          </p:nvCxnSpPr>
          <p:spPr>
            <a:xfrm>
              <a:off x="1798781" y="3338945"/>
              <a:ext cx="1747983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CF94C03-2929-1E4F-264C-BA69165D17EC}"/>
                </a:ext>
              </a:extLst>
            </p:cNvPr>
            <p:cNvCxnSpPr>
              <a:cxnSpLocks/>
            </p:cNvCxnSpPr>
            <p:nvPr/>
          </p:nvCxnSpPr>
          <p:spPr>
            <a:xfrm>
              <a:off x="1251526" y="3786908"/>
              <a:ext cx="1747983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B8C1950-CD3D-CE49-B8D5-2DD9ACD8330A}"/>
              </a:ext>
            </a:extLst>
          </p:cNvPr>
          <p:cNvGrpSpPr/>
          <p:nvPr/>
        </p:nvGrpSpPr>
        <p:grpSpPr>
          <a:xfrm>
            <a:off x="840508" y="3828472"/>
            <a:ext cx="6363856" cy="494144"/>
            <a:chOff x="840508" y="3828472"/>
            <a:chExt cx="6363856" cy="49414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EDA3F8F-D4AE-B208-CBEA-1638CF601073}"/>
                </a:ext>
              </a:extLst>
            </p:cNvPr>
            <p:cNvSpPr/>
            <p:nvPr/>
          </p:nvSpPr>
          <p:spPr>
            <a:xfrm>
              <a:off x="5015345" y="3828472"/>
              <a:ext cx="2189019" cy="494144"/>
            </a:xfrm>
            <a:prstGeom prst="rect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7ECAC6E-E818-491B-CA1C-E3D3C11AF3F9}"/>
                </a:ext>
              </a:extLst>
            </p:cNvPr>
            <p:cNvCxnSpPr>
              <a:cxnSpLocks/>
            </p:cNvCxnSpPr>
            <p:nvPr/>
          </p:nvCxnSpPr>
          <p:spPr>
            <a:xfrm>
              <a:off x="840508" y="4234872"/>
              <a:ext cx="1747983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A6465CC5-8D29-EA3C-E78C-74268A102755}"/>
              </a:ext>
            </a:extLst>
          </p:cNvPr>
          <p:cNvSpPr/>
          <p:nvPr/>
        </p:nvSpPr>
        <p:spPr>
          <a:xfrm>
            <a:off x="6918036" y="4572000"/>
            <a:ext cx="544946" cy="55418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AAB0FF-F4F1-6DBC-D583-C2796B43ADC3}"/>
              </a:ext>
            </a:extLst>
          </p:cNvPr>
          <p:cNvSpPr txBox="1"/>
          <p:nvPr/>
        </p:nvSpPr>
        <p:spPr>
          <a:xfrm>
            <a:off x="565726" y="5118057"/>
            <a:ext cx="11211605" cy="400110"/>
          </a:xfrm>
          <a:prstGeom prst="rect">
            <a:avLst/>
          </a:prstGeom>
          <a:solidFill>
            <a:srgbClr val="F2F2F1"/>
          </a:solidFill>
        </p:spPr>
        <p:txBody>
          <a:bodyPr wrap="square">
            <a:sp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5E5E5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Iterators has row context (They iterate row by row)</a:t>
            </a:r>
          </a:p>
        </p:txBody>
      </p:sp>
    </p:spTree>
    <p:extLst>
      <p:ext uri="{BB962C8B-B14F-4D97-AF65-F5344CB8AC3E}">
        <p14:creationId xmlns:p14="http://schemas.microsoft.com/office/powerpoint/2010/main" val="129665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B1B53-209B-7766-527B-3879A064F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CDC8206-A43D-A753-CBAF-565351EBB9F9}"/>
              </a:ext>
            </a:extLst>
          </p:cNvPr>
          <p:cNvSpPr/>
          <p:nvPr/>
        </p:nvSpPr>
        <p:spPr>
          <a:xfrm>
            <a:off x="0" y="0"/>
            <a:ext cx="12192000" cy="667657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Iterators</a:t>
            </a: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4BAAB2-6237-B6D9-42B2-A6C4D849F6DF}"/>
              </a:ext>
            </a:extLst>
          </p:cNvPr>
          <p:cNvSpPr txBox="1"/>
          <p:nvPr/>
        </p:nvSpPr>
        <p:spPr>
          <a:xfrm>
            <a:off x="1200726" y="751344"/>
            <a:ext cx="1077883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Iterators has row context (They iterate row by row)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Temp/Virtual</a:t>
            </a: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tables are the one generated in a measure for temporary use. They only exist when the measure needs them to calculate, then removed and never exist in model.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iterator can return a scaler means one value.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Also, Iterator can return a Virtual/Temp table.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Iterator needs two arguments at least: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table to iterate through.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expression that will be evaluated row by row.</a:t>
            </a:r>
          </a:p>
          <a:p>
            <a:pPr marR="0" lvl="1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 the iterator use </a:t>
            </a:r>
            <a:r>
              <a:rPr lang="en-US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table</a:t>
            </a: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 table has </a:t>
            </a:r>
            <a:r>
              <a:rPr lang="en-US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Row Context</a:t>
            </a: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also Iterator has Row Context.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You can consider the </a:t>
            </a:r>
            <a:r>
              <a:rPr lang="en-US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expression</a:t>
            </a: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as a </a:t>
            </a:r>
            <a:r>
              <a:rPr lang="en-US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virtual column</a:t>
            </a: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it exists until the calculation finished then removed.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Most iterator functions end with the X letter (SUMX, MINX,MAXX……).</a:t>
            </a:r>
          </a:p>
        </p:txBody>
      </p:sp>
    </p:spTree>
    <p:extLst>
      <p:ext uri="{BB962C8B-B14F-4D97-AF65-F5344CB8AC3E}">
        <p14:creationId xmlns:p14="http://schemas.microsoft.com/office/powerpoint/2010/main" val="119711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DA2CA-853C-57D3-3A12-E90BA905F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4E539E6-570A-C127-4244-6FA527029E3C}"/>
              </a:ext>
            </a:extLst>
          </p:cNvPr>
          <p:cNvSpPr/>
          <p:nvPr/>
        </p:nvSpPr>
        <p:spPr>
          <a:xfrm>
            <a:off x="0" y="0"/>
            <a:ext cx="12192000" cy="667657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Iterators</a:t>
            </a: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46111D-2319-2BA3-635C-F569EA939608}"/>
              </a:ext>
            </a:extLst>
          </p:cNvPr>
          <p:cNvSpPr txBox="1"/>
          <p:nvPr/>
        </p:nvSpPr>
        <p:spPr>
          <a:xfrm>
            <a:off x="1200726" y="751344"/>
            <a:ext cx="1077883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Iterators has row context (They iterate row by row)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Temp/Virtual</a:t>
            </a: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tables are the one generated in a measure for temporary use. They only exist when the measure needs them to calculate, then removed and never exist in model.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iterator can return a scaler means one value.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Also, Iterator can return a Virtual/Temp table.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Iterator needs two arguments at least: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table to iterate through.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expression that will be evaluated row by row.</a:t>
            </a:r>
          </a:p>
          <a:p>
            <a:pPr marR="0" lvl="1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 the iterator use </a:t>
            </a:r>
            <a:r>
              <a:rPr lang="en-US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table</a:t>
            </a: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 table has </a:t>
            </a:r>
            <a:r>
              <a:rPr lang="en-US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Row Context</a:t>
            </a: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also Iterator has Row Context.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You can consider the </a:t>
            </a:r>
            <a:r>
              <a:rPr lang="en-US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expression</a:t>
            </a: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as a </a:t>
            </a:r>
            <a:r>
              <a:rPr lang="en-US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virtual column</a:t>
            </a: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it exists until the calculation finished then removed.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Most iterator functions end with the X letter (SUMX, MINX,MAXX……).</a:t>
            </a:r>
          </a:p>
        </p:txBody>
      </p:sp>
    </p:spTree>
    <p:extLst>
      <p:ext uri="{BB962C8B-B14F-4D97-AF65-F5344CB8AC3E}">
        <p14:creationId xmlns:p14="http://schemas.microsoft.com/office/powerpoint/2010/main" val="1413603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64D43-FD99-F594-0D1B-14039F22F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8493875-08AA-4103-4A98-A50C04090BF0}"/>
              </a:ext>
            </a:extLst>
          </p:cNvPr>
          <p:cNvSpPr/>
          <p:nvPr/>
        </p:nvSpPr>
        <p:spPr>
          <a:xfrm>
            <a:off x="865963" y="790833"/>
            <a:ext cx="9736489" cy="5180176"/>
          </a:xfrm>
          <a:prstGeom prst="rect">
            <a:avLst/>
          </a:prstGeom>
          <a:solidFill>
            <a:srgbClr val="F2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7CDD0F9-C4E6-5CB4-3A37-C29C6D141B72}"/>
              </a:ext>
            </a:extLst>
          </p:cNvPr>
          <p:cNvSpPr/>
          <p:nvPr/>
        </p:nvSpPr>
        <p:spPr>
          <a:xfrm>
            <a:off x="0" y="0"/>
            <a:ext cx="12192000" cy="667657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Iterators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35D7AA-635B-7117-456C-33E31D95B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63" y="790833"/>
            <a:ext cx="9754961" cy="2505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09F581-CAFB-35F8-E669-33CBD9102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64" y="3702657"/>
            <a:ext cx="9754961" cy="8764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A77AB6-4A03-C55B-C5CE-5DC41E9A0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491" y="5303353"/>
            <a:ext cx="9754961" cy="66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28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BA238-8753-4A61-B759-C6FDE37F1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F773237-0AD4-1648-B601-AE0DA2B542F5}"/>
              </a:ext>
            </a:extLst>
          </p:cNvPr>
          <p:cNvSpPr/>
          <p:nvPr/>
        </p:nvSpPr>
        <p:spPr>
          <a:xfrm rot="-5220000">
            <a:off x="3118153" y="-974217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EF4B57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2C8C2B3-0248-8362-1B7D-8922CD9D4070}"/>
              </a:ext>
            </a:extLst>
          </p:cNvPr>
          <p:cNvGrpSpPr/>
          <p:nvPr/>
        </p:nvGrpSpPr>
        <p:grpSpPr>
          <a:xfrm rot="-5220000">
            <a:off x="7460761" y="2563210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9CD118C-4D6D-D1A0-39A1-3EF12562C44C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6BF8BF2-4328-EA5B-AAFE-B4E40BA6867E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6568D4C-EBBF-A450-2992-B4AD187549C5}"/>
              </a:ext>
            </a:extLst>
          </p:cNvPr>
          <p:cNvSpPr txBox="1"/>
          <p:nvPr/>
        </p:nvSpPr>
        <p:spPr>
          <a:xfrm>
            <a:off x="0" y="2673467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E986C3-CD9B-95EB-B9FF-151BD6D41D76}"/>
              </a:ext>
            </a:extLst>
          </p:cNvPr>
          <p:cNvSpPr txBox="1"/>
          <p:nvPr/>
        </p:nvSpPr>
        <p:spPr>
          <a:xfrm rot="60000">
            <a:off x="331079" y="2842745"/>
            <a:ext cx="7794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3200" b="1" dirty="0">
                <a:solidFill>
                  <a:prstClr val="white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Filter Context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V Boli" panose="02000500030200090000" pitchFamily="2" charset="0"/>
              <a:ea typeface="Open Sans" panose="020B0606030504020204" pitchFamily="34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333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56C41-D057-9D6A-80D0-DBA23C794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4ACF1C-5DCC-9A12-61F7-8A4F4BFB57A6}"/>
              </a:ext>
            </a:extLst>
          </p:cNvPr>
          <p:cNvSpPr/>
          <p:nvPr/>
        </p:nvSpPr>
        <p:spPr>
          <a:xfrm>
            <a:off x="0" y="0"/>
            <a:ext cx="12192000" cy="667657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Filter Context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2E3C6E-44BB-9786-197F-28ED51EA7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87" y="894996"/>
            <a:ext cx="10031225" cy="50680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51A936B-1376-A3C8-6F84-F5EFEB8B1D6A}"/>
              </a:ext>
            </a:extLst>
          </p:cNvPr>
          <p:cNvSpPr/>
          <p:nvPr/>
        </p:nvSpPr>
        <p:spPr>
          <a:xfrm>
            <a:off x="1274618" y="4308763"/>
            <a:ext cx="3398982" cy="49414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A4A228-0346-9482-75EF-A3C10E79982E}"/>
              </a:ext>
            </a:extLst>
          </p:cNvPr>
          <p:cNvSpPr/>
          <p:nvPr/>
        </p:nvSpPr>
        <p:spPr>
          <a:xfrm>
            <a:off x="1274617" y="2654522"/>
            <a:ext cx="4692073" cy="84606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8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96B5-AF95-4B0A-DC81-26ECADD1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BCA30AE-D496-B18F-5241-AF65CBD30D2A}"/>
              </a:ext>
            </a:extLst>
          </p:cNvPr>
          <p:cNvSpPr/>
          <p:nvPr/>
        </p:nvSpPr>
        <p:spPr>
          <a:xfrm>
            <a:off x="0" y="0"/>
            <a:ext cx="12192000" cy="667657"/>
          </a:xfrm>
          <a:custGeom>
            <a:avLst/>
            <a:gdLst>
              <a:gd name="connsiteX0" fmla="*/ 0 w 12122328"/>
              <a:gd name="connsiteY0" fmla="*/ 0 h 667331"/>
              <a:gd name="connsiteX1" fmla="*/ 12122328 w 12122328"/>
              <a:gd name="connsiteY1" fmla="*/ 0 h 667331"/>
              <a:gd name="connsiteX2" fmla="*/ 12122328 w 12122328"/>
              <a:gd name="connsiteY2" fmla="*/ 667331 h 667331"/>
              <a:gd name="connsiteX3" fmla="*/ 1228603 w 12122328"/>
              <a:gd name="connsiteY3" fmla="*/ 667331 h 667331"/>
              <a:gd name="connsiteX4" fmla="*/ 1201574 w 12122328"/>
              <a:gd name="connsiteY4" fmla="*/ 550485 h 667331"/>
              <a:gd name="connsiteX5" fmla="*/ 267466 w 12122328"/>
              <a:gd name="connsiteY5" fmla="*/ 54179 h 667331"/>
              <a:gd name="connsiteX6" fmla="*/ 0 w 12122328"/>
              <a:gd name="connsiteY6" fmla="*/ 17998 h 66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22328" h="667331">
                <a:moveTo>
                  <a:pt x="0" y="0"/>
                </a:moveTo>
                <a:lnTo>
                  <a:pt x="12122328" y="0"/>
                </a:lnTo>
                <a:lnTo>
                  <a:pt x="12122328" y="667331"/>
                </a:lnTo>
                <a:lnTo>
                  <a:pt x="1228603" y="667331"/>
                </a:lnTo>
                <a:lnTo>
                  <a:pt x="1201574" y="550485"/>
                </a:lnTo>
                <a:cubicBezTo>
                  <a:pt x="1096201" y="326084"/>
                  <a:pt x="740653" y="141396"/>
                  <a:pt x="267466" y="54179"/>
                </a:cubicBezTo>
                <a:lnTo>
                  <a:pt x="0" y="17998"/>
                </a:lnTo>
                <a:close/>
              </a:path>
            </a:pathLst>
          </a:custGeom>
          <a:solidFill>
            <a:srgbClr val="EE2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/>
              <a:t>                          </a:t>
            </a:r>
            <a:r>
              <a:rPr lang="en-US" sz="4400" dirty="0"/>
              <a:t>Filter Context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BD3FC2-4993-2363-0F42-604A60FCE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77" y="792053"/>
            <a:ext cx="7977787" cy="501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9604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72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1634</TotalTime>
  <Words>484</Words>
  <Application>Microsoft Office PowerPoint</Application>
  <PresentationFormat>Widescreen</PresentationFormat>
  <Paragraphs>89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Arial Black</vt:lpstr>
      <vt:lpstr>Calibri</vt:lpstr>
      <vt:lpstr>Calibri Light</vt:lpstr>
      <vt:lpstr>Courier New</vt:lpstr>
      <vt:lpstr>Lato</vt:lpstr>
      <vt:lpstr>MV Boli</vt:lpstr>
      <vt:lpstr>Symbol</vt:lpstr>
      <vt:lpstr>Wingdings</vt:lpstr>
      <vt:lpstr>1_Office Theme</vt:lpstr>
      <vt:lpstr>PowerPoint Presentation</vt:lpstr>
      <vt:lpstr>DAX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F. Huda</dc:creator>
  <cp:lastModifiedBy>Said Fawzy</cp:lastModifiedBy>
  <cp:revision>97</cp:revision>
  <dcterms:created xsi:type="dcterms:W3CDTF">2016-11-14T07:59:55Z</dcterms:created>
  <dcterms:modified xsi:type="dcterms:W3CDTF">2025-04-23T14:12:23Z</dcterms:modified>
</cp:coreProperties>
</file>